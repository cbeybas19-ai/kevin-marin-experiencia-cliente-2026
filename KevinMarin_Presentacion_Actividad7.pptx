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6663645c84231" /><Relationship Type="http://schemas.openxmlformats.org/officeDocument/2006/relationships/extended-properties" Target="/docProps/app.xml" Id="R082797858c524d1b" /><Relationship Type="http://schemas.openxmlformats.org/officeDocument/2006/relationships/officeDocument" Target="/ppt/presentation.xml" Id="Rdfe14371f740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bf4b3f295416f"/>
  </p:sldMasterIdLst>
  <p:notesMasterIdLst>
    <p:notesMasterId xmlns:r="http://schemas.openxmlformats.org/officeDocument/2006/relationships" r:id="R6c094a7fdc654cb3"/>
  </p:notesMasterIdLst>
  <p:sldIdLst>
    <p:sldId xmlns:r="http://schemas.openxmlformats.org/officeDocument/2006/relationships" id="256" r:id="R8488e926e3b2494c"/>
    <p:sldId xmlns:r="http://schemas.openxmlformats.org/officeDocument/2006/relationships" id="257" r:id="Rc6ce0d8091334cd1"/>
    <p:sldId xmlns:r="http://schemas.openxmlformats.org/officeDocument/2006/relationships" id="258" r:id="Rd8f3b631c99547fb"/>
    <p:sldId xmlns:r="http://schemas.openxmlformats.org/officeDocument/2006/relationships" id="259" r:id="R83a1eb7ad51946df"/>
    <p:sldId xmlns:r="http://schemas.openxmlformats.org/officeDocument/2006/relationships" id="260" r:id="R9278470d09224923"/>
    <p:sldId xmlns:r="http://schemas.openxmlformats.org/officeDocument/2006/relationships" id="261" r:id="R17d38811d14443cd"/>
    <p:sldId xmlns:r="http://schemas.openxmlformats.org/officeDocument/2006/relationships" id="262" r:id="R55425faa908141dc"/>
    <p:sldId xmlns:r="http://schemas.openxmlformats.org/officeDocument/2006/relationships" id="263" r:id="R3dccb76f4e8f4e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cc1ac8b9fa48b8" /><Relationship Type="http://schemas.openxmlformats.org/officeDocument/2006/relationships/slideMaster" Target="/ppt/slideMasters/slideMaster1.xml" Id="R6b2bf4b3f295416f" /><Relationship Type="http://schemas.openxmlformats.org/officeDocument/2006/relationships/notesMaster" Target="/ppt/notesMasters/notesMaster1.xml" Id="R6c094a7fdc654cb3" /><Relationship Type="http://schemas.openxmlformats.org/officeDocument/2006/relationships/presProps" Target="/ppt/presProps.xml" Id="R9508283782334eca" /><Relationship Type="http://schemas.openxmlformats.org/officeDocument/2006/relationships/tableStyles" Target="/ppt/tableStyles.xml" Id="Ra2526b9c0ac94937" /><Relationship Type="http://schemas.openxmlformats.org/officeDocument/2006/relationships/slide" Target="/ppt/slides/slide1.xml" Id="R8488e926e3b2494c" /><Relationship Type="http://schemas.openxmlformats.org/officeDocument/2006/relationships/slide" Target="/ppt/slides/slide2.xml" Id="Rc6ce0d8091334cd1" /><Relationship Type="http://schemas.openxmlformats.org/officeDocument/2006/relationships/slide" Target="/ppt/slides/slide3.xml" Id="Rd8f3b631c99547fb" /><Relationship Type="http://schemas.openxmlformats.org/officeDocument/2006/relationships/slide" Target="/ppt/slides/slide4.xml" Id="R83a1eb7ad51946df" /><Relationship Type="http://schemas.openxmlformats.org/officeDocument/2006/relationships/slide" Target="/ppt/slides/slide5.xml" Id="R9278470d09224923" /><Relationship Type="http://schemas.openxmlformats.org/officeDocument/2006/relationships/slide" Target="/ppt/slides/slide6.xml" Id="R17d38811d14443cd" /><Relationship Type="http://schemas.openxmlformats.org/officeDocument/2006/relationships/slide" Target="/ppt/slides/slide7.xml" Id="R55425faa908141dc" /><Relationship Type="http://schemas.openxmlformats.org/officeDocument/2006/relationships/slide" Target="/ppt/slides/slide8.xml" Id="R3dccb76f4e8f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258c092600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56d1fda84f4922" /><Relationship Type="http://schemas.openxmlformats.org/officeDocument/2006/relationships/notesMaster" Target="/ppt/notesMasters/notesMaster1.xml" Id="R4ce2ec4b92d0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840c45234484a" /><Relationship Type="http://schemas.openxmlformats.org/officeDocument/2006/relationships/notesMaster" Target="/ppt/notesMasters/notesMaster1.xml" Id="Rca9d3dba6f2b4d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cd3388da084cac" /><Relationship Type="http://schemas.openxmlformats.org/officeDocument/2006/relationships/notesMaster" Target="/ppt/notesMasters/notesMaster1.xml" Id="R13daded716674e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97442d3b794a0a" /><Relationship Type="http://schemas.openxmlformats.org/officeDocument/2006/relationships/notesMaster" Target="/ppt/notesMasters/notesMaster1.xml" Id="R47f380b41cec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51ce234f934747" /><Relationship Type="http://schemas.openxmlformats.org/officeDocument/2006/relationships/notesMaster" Target="/ppt/notesMasters/notesMaster1.xml" Id="R59c3f9fef40c49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b6a28762e644cd" /><Relationship Type="http://schemas.openxmlformats.org/officeDocument/2006/relationships/notesMaster" Target="/ppt/notesMasters/notesMaster1.xml" Id="R131cd8b78d0147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c2621291d496a" /><Relationship Type="http://schemas.openxmlformats.org/officeDocument/2006/relationships/notesMaster" Target="/ppt/notesMasters/notesMaster1.xml" Id="Rdd7f5a75b6c94b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742e1461a84f58" /><Relationship Type="http://schemas.openxmlformats.org/officeDocument/2006/relationships/notesMaster" Target="/ppt/notesMasters/notesMaster1.xml" Id="R4d919eae05bd4c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estudio para revisión y personalización por Kevin Marin. Tema: experiencia del cliente y fidelización en pequeños comercios.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Lemon, K. N., &amp; Verhoef, P. C. (2016). Understanding customer experience throughout the customer journey. Journal of Marketing, 80(6), 69–96. https://doi.org/10.1509/jm.15.0420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recorrido es una síntesis didáctica del enfoque de puntos de contacto en Lemon y Verhoef (2016). Las etapas se deben adaptar al comercio y al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Caso, personajes y situación ficticios. Hipótesis de aprendizaje, no resultado de una investigación.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Gilboa, S., Seger-Guttmann, T., &amp; Mimran, O. (2019). The unique role of relationship marketing in small businesses’ customer experience. Journal of Retailing and Consumer Services, 51, 152–164. https://doi.org/10.1016/j.jretconser.2019.06.004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fórmula es una definición didáctica para el ejercicio, no un estándar contable. Establecer la población y el periodo antes de comparar.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Organisation for Economic Co-operation and Development. (2021). The digital transformation of SMEs. OECD Studies on SMEs and Entrepreneurship. https://doi.org/10.1787/bdb9256a-en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 para elaborar el contenido. Los casos y recomendaciones prácticas del material se presentan como ejercicio para revisión y personalización.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61fd6231b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a71d52ea54fc2" /><Relationship Type="http://schemas.openxmlformats.org/officeDocument/2006/relationships/slideLayout" Target="/ppt/slideLayouts/slideLayout1.xml" Id="R18e736d4ca3a48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736d4ca3a48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682800e17437c" /><Relationship Type="http://schemas.openxmlformats.org/officeDocument/2006/relationships/notesSlide" Target="/ppt/notesSlides/notesSlide1.xml" Id="R35c98c935abd44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7efab23524899" /><Relationship Type="http://schemas.openxmlformats.org/officeDocument/2006/relationships/notesSlide" Target="/ppt/notesSlides/notesSlide2.xml" Id="R1edf05b145e9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aed5cdb314354" /><Relationship Type="http://schemas.openxmlformats.org/officeDocument/2006/relationships/notesSlide" Target="/ppt/notesSlides/notesSlide3.xml" Id="Rbd71472f2c6c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305d2a0974c2c" /><Relationship Type="http://schemas.openxmlformats.org/officeDocument/2006/relationships/notesSlide" Target="/ppt/notesSlides/notesSlide4.xml" Id="R7658b6fc0765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4b4888275464a" /><Relationship Type="http://schemas.openxmlformats.org/officeDocument/2006/relationships/notesSlide" Target="/ppt/notesSlides/notesSlide5.xml" Id="Rb071fe93b76a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42e61e8984994" /><Relationship Type="http://schemas.openxmlformats.org/officeDocument/2006/relationships/notesSlide" Target="/ppt/notesSlides/notesSlide6.xml" Id="R535eaac39bc148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7a71e27f04149" /><Relationship Type="http://schemas.openxmlformats.org/officeDocument/2006/relationships/notesSlide" Target="/ppt/notesSlides/notesSlide7.xml" Id="R05ed2972e72a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a605e7a8145db" /><Relationship Type="http://schemas.openxmlformats.org/officeDocument/2006/relationships/notesSlide" Target="/ppt/notesSlides/notesSlide8.xml" Id="Re5771f58312c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2EE61-FA1C-4A13-AAA1-033DAE6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76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C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2BAE3-6102-4357-A384-833B8DCB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10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CUADERNO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8BE75-D852-4574-8DD7-6FFB12E8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981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EXPERIENCIA DEL CLIENTE</a:t>
            </a:r>
          </a:p>
          <a:p xmlns:a="http://schemas.openxmlformats.org/drawingml/2006/main">
            <a:pPr algn="l">
              <a:defRPr sz="43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EN PEQUEÑOS COMERCIOS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8BEE8-F4BF-477D-A56B-8D8A7BA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Que vuelvan. Y que quieran volver.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29DC6-5BC2-4143-B077-E8FEAC6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Cómo observar el recorrido, mejorar el servicio y cuidar la confianza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9FAA2-DD7B-4A50-BFF5-77AE922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673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F54FD-F2B2-4D93-8EE0-4909231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67325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KEVIN MARIN  ·  BORRADOR PARA REVISAR Y PERSONALIZAR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758AC-9A56-474E-8264-25CC709B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TICs y Ambientes de Aprendizaje  /  UPTC · FESAD · Escuela de Ciencias Tecnológicas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14F27-B386-4D9C-9F63-2B3B4F3D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53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88623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5915AF-B307-48A6-9133-89B8604A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LA EXPERIENCIA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22005-9E71-48B0-8CC2-3D7E4D2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6E8A3-A532-4924-9D97-ECEB05D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La compra es un momento.</a:t>
            </a:r>
          </a:p>
          <a:p xmlns:a="http://schemas.openxmlformats.org/drawingml/2006/main">
            <a:pPr algn="l">
              <a:defRPr sz="31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La experiencia es el recorrido.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48247-3039-4AA6-ABF7-B87FF2C8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85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Cada contacto influye en cómo una persona entiende, siente y recuerda el servicio: desde que descubre el negocio hasta después de recibir el pedido.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88E3D-80BE-43FF-9481-F40C952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C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B4FE0-4A58-4539-A2E0-895663EC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83AA4-E489-44E3-A06C-5070A289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5B86B-BE86-4BD0-BDB8-CC687C1D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DESCUBRE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8D62F-2695-4BE3-BB7B-E2F55C27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8CE77-147A-4F23-A4D3-8B0EC5CB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90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F693A-C316-4375-A9A3-57965FB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00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8E5F0-0B27-4074-A16D-7883A18B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38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PREGUNTA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F84B1-BB88-40AC-8DE6-9EFA8A7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378C1-C764-46AE-A5C1-AB90C7A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0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A3217-2301-4090-BDDA-029D850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F320C-DEEE-408E-BB9E-6CE0023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38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77AF0-5CA9-4B50-93FF-777272B6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43593-13CC-4A6C-910C-D924A4FD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590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458AC-B14E-447E-80E6-A20BB266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00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F952E-1DB6-4D5A-8AED-90FD9636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238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COMPRA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A4467-C826-4918-A169-D45B949B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290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A2414-F2E9-4447-A79B-7F5E3B26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90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11B62-EB34-4EC7-83AE-021829AF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43A93-66F4-46DE-B0D6-972DCD13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RECIBE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23E2A-B88C-4B6F-BECC-29AB4C78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F4917-FAEF-49A9-9AF7-D874F08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90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5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635E6-8158-4C89-87F5-A10940A0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00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86E63B-E6F5-4ECD-85B1-2DC5993E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238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REGRESA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793DE-3F97-46C4-B9F4-6429DD4B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D45C36"/>
                </a:solidFill>
                <a:latin typeface="Aptos"/>
                <a:ea typeface="Aptos"/>
                <a:cs typeface="Aptos"/>
              </a:rPr>
              <a:t>No todos los negocios tienen los mismos puntos de contacto. Dibuja el recorrido real de tus clientes.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E598D-E31F-4D87-A6A7-DA58C5B2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F798A-A392-4A4E-9C8F-BA6A0D9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AFADC-37C3-4514-9B37-B079B9B3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872900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6E0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3FA486-2873-4BED-B5DA-61CF09A7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MAPA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9D18D-DC64-4078-B4EE-0CED4E9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9F01E-98B3-477B-8D5B-F65CA3EA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Seis etapas para observar</a:t>
            </a:r>
          </a:p>
          <a:p xmlns:a="http://schemas.openxmlformats.org/drawingml/2006/main">
            <a:pPr algn="l">
              <a:defRPr sz="300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lo que necesita la persona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05BAC-5E30-4978-B470-01C71E58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En cada paso, pregunta: ¿qué quiere resolver?, ¿dónde interactúa con el negocio?, ¿qué puede generar fricción?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55120-5467-40B9-A29F-11D281C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E6553-A1EF-4C40-88AF-04DD3D99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14325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B2E28-A8B8-4165-B8DE-CF677E17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432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DESCUBRE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E2FA0-0A0F-44EF-977B-CF4F668D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814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Encontrar el negocio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AC302-D3D2-4FCE-BE67-35FE0E1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33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Redes · vitrina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157F4-300F-4A0E-BCB7-B17D989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76986-8E35-480A-8607-40A6BFD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4325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5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69326-5803-4F8C-A7D4-9F2902EB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432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PREGUNTA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F99D0-B70F-4737-B998-4460FBC9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814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Recibir respuesta clara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35E48-5854-4712-BA24-6CAF0D76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33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Chat · mostrador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625D7-72EE-4BDE-8CB0-8A6CB231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5B6F6-B071-4604-8156-EE43DC6A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4325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5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C8FA3-8B43-4ED7-8EC8-E2231AB8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432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96A61-8B7A-446D-916D-DD6F99CC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Comparar opciones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7FCF5-C1D8-47CA-AA05-B529CBB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33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Catálogo · precio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DDD71-DFBE-495C-B12E-C2CD833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F7DCC-E3EA-4CE4-BB80-E7748561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4325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5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A13D0-0ED7-494B-A4F2-C577616A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432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COMPRA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0AE5A-68C2-4348-8C95-9C2169C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814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Pagar sin confusión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3FE9A-13EF-437A-90BB-45A1EA31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33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Caja · pasarela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1D1E6-D899-46B5-8742-488A40A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80650-6D8A-49D8-95BE-300127D6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C3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F397A-97F6-40DC-9606-5EB75A88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432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RECIBE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3AA23-029D-4085-AD2E-6CE0B927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814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Obtener lo acordado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C7579-C510-427E-B3E9-EE0FAA93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Entrega · empaque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313E54-C068-4AD0-8120-5C26D0B3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25A99-D0B7-4B82-8012-E3A3E49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4325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5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D8FE4-25C9-4976-9A74-FB067FD0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432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REGRESA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E4847-3D87-4416-BA95-691B4524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814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Sentirse escuchado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51789-5653-42D9-B8D9-4F19FC53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33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Seguimiento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0F5D0-BC30-4EEA-B031-F02C6592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A9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F80C16-5613-4953-986C-7A39662B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PUNTO DE DOLOR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FC42A-6AF3-4894-81AE-21F4ED8A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191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Una demora sin aviso puede pesar más que un pequeño retraso comunicado a tiempo.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04D980-FA95-45F8-8387-10B2F32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169757-E64F-4928-8C50-E9167D2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B5372-9762-4994-9673-786CCC81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2000146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7A3EA-0644-4757-A190-FE37A78A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CASO PRÁCTICO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98768-30F1-4777-84D5-2978C26D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0B502-328D-4151-B3FE-38CE9F2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La Esquina: un caso</a:t>
            </a:r>
          </a:p>
          <a:p xmlns:a="http://schemas.openxmlformats.org/drawingml/2006/main">
            <a:pPr algn="l">
              <a:defRPr sz="322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ficticio de barrio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DF272-DDCE-4057-A9C7-4436CE4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La tienda recibe consultas por mensajería, pero algunas quedan sin respuesta y la disponibilidad del producto no siempre se confirma.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C9222-3BE5-40EA-A23E-C43BD958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FRICCIÓN OBSERVADA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240AE-6CE8-4874-8852-8E0A82A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Una persona pregunta por un producto. No sabe si hay existencias ni cuándo llegará el pedido.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C37B3-7E2F-450D-B6D4-5E975DD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190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97C02-A0B7-49C5-A017-7763D61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AJUSTE POSIBLE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A4F3C-A480-44EA-B6A7-9258E877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52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Verificar existencias, confirmar precio y hora de entrega, y enviar un aviso si algo cambia.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6DD1-870E-48C2-9474-5520446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0429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DA54D-E562-4365-9A1A-D4232C11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HIPÓTESIS PARA PROBAR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25529-D54E-44F3-B96B-BFCC2229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Una respuesta clara y una entrega confirmada pueden reducir incertidumbre y facilitar que el cliente confíe.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FFACD-B89F-4EE6-97B1-DD9EB6E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83188-D046-4F4E-B5ED-D860CE9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563C0-9B0F-4176-BBF9-5D8B54B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1897175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15B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E04F3-0D23-4C8B-B30C-370FCEBE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ACCIONES DE MEJORA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0C06C-8B4B-4864-BC4B-134538AD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D8541-7D30-4C0B-9F6F-2066547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43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Cuatro prácticas de servicio</a:t>
            </a:r>
          </a:p>
          <a:p xmlns:a="http://schemas.openxmlformats.org/drawingml/2006/main">
            <a:pPr algn="l">
              <a:defRPr sz="315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que caben en el día a día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F6D73-EC49-4B73-B710-838262A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F2112-6C85-4B95-9254-F3AA39A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8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461D0-8E6C-4AB3-8529-0C5D4A68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ESCUCHAR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46FEA-2A34-4681-BF76-5B5A8FE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2764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2E4D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2E4D8"/>
                </a:solidFill>
                <a:latin typeface="Aptos"/>
                <a:ea typeface="Aptos"/>
                <a:cs typeface="Aptos"/>
              </a:rPr>
              <a:t>Pregunta qué fue fácil y qué generó dudas. Registra temas sin guardar datos innecesarios.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7A2EA-ACC3-45E3-9676-3D27FF75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F3DEC-C866-49D1-B576-3218D66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1942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8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5239F-3664-4D37-93DB-8148B030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INFORMAR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2D2D5-BB0A-4B58-BA5A-47771930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2764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2E4D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2E4D8"/>
                </a:solidFill>
                <a:latin typeface="Aptos"/>
                <a:ea typeface="Aptos"/>
                <a:cs typeface="Aptos"/>
              </a:rPr>
              <a:t>Confirma precio, existencias, condiciones y hora de entrega antes de cerrar la venta.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FE779-8EBE-4BA7-8A92-D878127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DF5BC-64A4-4BC3-83AA-AD77D835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8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03F99-85D8-456A-8CEC-3D01B21B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CUMPLIR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F59EC-1EFF-4202-BD01-7C65EA4B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22764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2E4D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2E4D8"/>
                </a:solidFill>
                <a:latin typeface="Aptos"/>
                <a:ea typeface="Aptos"/>
                <a:cs typeface="Aptos"/>
              </a:rPr>
              <a:t>Si algo cambia, avisa pronto y explica las opciones. Evita promesas que no puedas sostener.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5DAA6-A069-4793-899F-DF3E2161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B77A2-6493-4D41-BA9E-73F404C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1942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8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6A79D-8B42-4DC0-ADE0-EAF7428D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APRENDER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41AE3-425B-4256-9681-6816C4B1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2764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2E4D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2E4D8"/>
                </a:solidFill>
                <a:latin typeface="Aptos"/>
                <a:ea typeface="Aptos"/>
                <a:cs typeface="Aptos"/>
              </a:rPr>
              <a:t>Revisa comentarios y recompra cada semana. Cambia una práctica y observa qué sucede.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66CFD-1CFE-4B1C-81E9-0276C1B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033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F1B28A"/>
                </a:solidFill>
                <a:latin typeface="Aptos"/>
                <a:ea typeface="Aptos"/>
                <a:cs typeface="Aptos"/>
              </a:rPr>
              <a:t>En pequeños negocios, la comunicación y el cuidado personal pueden ser parte central de la experiencia.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C0ED7-90DD-4E18-B14C-3E15D8C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45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404A7-485A-4D30-B769-A8DE3D8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D7D4C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D7D4C8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23906-9933-4FDE-9562-8F766A0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D7D4C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D7D4C8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1610046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D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B4DA6-2AFA-426B-9310-AFC925DC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INDICADOR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C0ED4-E316-43F1-9C85-0F26F81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8206A-A9A0-4F4F-A5C4-AC4C0100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Tasa de recompra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B213F-4E03-499B-9B8C-C091CD3D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Una señal para observar si las personas regresan. No explica por sí sola por qué vuelven o se van.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62228-D5A6-4F67-9DC5-6667EDF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0429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0E7FF-1142-42DA-956B-F541802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14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CLIENTES QUE COMPRAN DE NUEVO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5AE2B-B9F6-499E-82AB-79A3FD75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C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0FFAC-3584-4916-985B-4027AC7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CLIENTES DEL PERIODO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AD5D4-1349-4E59-BE61-DE8AAA70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86125"/>
            <a:ext cx="85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×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CC7F8-8C94-4E07-B0B7-0A0D70C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Define qué cuenta como recompra y usa periodos comparables. Complementa el número con comentarios y contexto.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EEC83-B819-41F7-A635-1207D4B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EJERCICIO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F2153-40D8-4D72-AE11-D6164C35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81625"/>
            <a:ext cx="881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500" b="0" i="1">
                <a:solidFill>
                  <a:srgbClr val="20231F"/>
                </a:solidFill>
                <a:latin typeface="Aptos"/>
                <a:ea typeface="Aptos"/>
                <a:cs typeface="Aptos"/>
              </a:rPr>
              <a:t>¿Qué tendría que mejorar para que tú regresaras a tu comercio favorito?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31499-D653-4967-A56A-D605F48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EEE60-5CE6-4AC1-B023-0D82445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A474B-6DC0-4D2E-8C65-64D49FF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850881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2F0D2-C1D4-4896-8896-BF1D3C3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CONFIANZA Y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A41AB-F1D4-4E53-AEAB-DC3C6FB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90485-CB43-4577-9859-1ED5C10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La relación también</a:t>
            </a:r>
          </a:p>
          <a:p xmlns:a="http://schemas.openxmlformats.org/drawingml/2006/main">
            <a:pPr algn="l">
              <a:defRPr sz="3225" b="1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se cuida con privacidad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B219E-8299-4538-B136-F29D4671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Los registros y canales digitales pueden contener datos de clientes. Recopila solo lo necesario y explica cómo se usará.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D3837-20C2-4D7A-B32F-EAE47FC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908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403B4-4E86-4C82-8B96-B884567B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9082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ACCESO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3335D-9793-497C-8C0B-F9280999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742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Comparte archivos solo con las personas que los necesitan.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62CB2-C3A1-48C8-8884-0782684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CA72E-E07F-42B0-995B-7A990CF0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183E4-7A76-4BE3-8571-827AA344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SEGURIDAD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0E2E2-16D4-426D-A71C-5E7B125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76625"/>
            <a:ext cx="742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Usa contraseñas únicas y activa la verificación en dos pasos.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FE851-5702-4270-B548-A9C7067A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338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A574E-108C-43EB-86D4-E5A40ED3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CD883-88F4-4BC9-A4EF-F4C17DC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957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CONSENTIMIENTO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A2BB2-C7B2-46FB-8EC3-E0D4705F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91000"/>
            <a:ext cx="742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Pide autorización antes de enviar mensajes promocionales.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0BD47-F3BB-46B1-8B08-7459DD1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0739B-C224-4FB6-A84B-E0FD1B29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BFCB7-2839-4077-8040-47CC2C58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B5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B53"/>
                </a:solidFill>
                <a:latin typeface="Aptos"/>
                <a:ea typeface="Aptos"/>
                <a:cs typeface="Aptos"/>
              </a:rPr>
              <a:t>RESPALDO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DEC9A-4DBA-4E17-B6C2-36E4580B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05375"/>
            <a:ext cx="742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0231F"/>
                </a:solidFill>
                <a:latin typeface="Aptos"/>
                <a:ea typeface="Aptos"/>
                <a:cs typeface="Aptos"/>
              </a:rPr>
              <a:t>Guarda copias protegidas y comprueba que puedas recuperarlas.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64BE6-F9AB-4FBD-85D3-1E1586E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625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1A3D9-1C6B-4237-8F26-79B805B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76960"/>
                </a:solidFill>
                <a:latin typeface="Aptos"/>
                <a:ea typeface="Aptos"/>
                <a:cs typeface="Aptos"/>
              </a:rPr>
              <a:t>La digitalización requiere considerar procesos, capacidades y decisiones sobre la información.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B10BB-335B-44AB-94CF-A13C80B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71B72-80B5-4F59-9922-107E7771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2BDCB-8CA6-4D6D-A022-F7216A5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76960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1577970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F66E3-4EF6-45EE-BE56-5954F46C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5C3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45C36"/>
                </a:solidFill>
                <a:latin typeface="Aptos"/>
                <a:ea typeface="Aptos"/>
                <a:cs typeface="Aptos"/>
              </a:rPr>
              <a:t>ACTIVIDAD 07     /     CIERRE Y REFERENCIAS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370D1-04D3-42F5-B9EE-23C4A31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8800E-7E67-42B8-A643-E7A48DB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Observar. Ajustar.</a:t>
            </a:r>
          </a:p>
          <a:p xmlns:a="http://schemas.openxmlformats.org/drawingml/2006/main">
            <a:pPr algn="l">
              <a:defRPr sz="3000" b="1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Volver a escuchar.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778BD-4F7D-43EF-AF08-2B445E8D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2E4D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2E4D8"/>
                </a:solidFill>
                <a:latin typeface="Aptos"/>
                <a:ea typeface="Aptos"/>
                <a:cs typeface="Aptos"/>
              </a:rPr>
              <a:t>La experiencia se construye en cada contacto. Una tienda puede comenzar por responder con claridad, cumplir lo acordado y aprender de las opiniones de sus clientes.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6F49D-A9BD-4428-8634-B6830AF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Tres ideas para llevar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DD24F-A8C7-4434-8A3A-74FC684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4476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01  Mapea el recorrido real</a:t>
            </a:r>
          </a:p>
          <a:p xmlns:a="http://schemas.openxmlformats.org/drawingml/2006/main">
            <a:pPr algn="l">
              <a:defRPr sz="1425" b="0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02  Prueba mejoras pequeñas</a:t>
            </a:r>
          </a:p>
          <a:p xmlns:a="http://schemas.openxmlformats.org/drawingml/2006/main">
            <a:pPr algn="l">
              <a:defRPr sz="1425" b="0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03  Protege la información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D47A8-2F0D-4431-847B-A18045B8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57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FUENTES · APA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E6562-110A-4096-B2DB-0B92BF4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66825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Lemon, K. N., &amp; Verhoef, P. C. (2016). Understanding customer experience throughout the customer journey. Journal of Marketing, 80(6), 69–96. doi:10.1509/jm.15.0420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5E4B3-DAA8-44BA-A293-C2484B4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5238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Gilboa, S., Seger-Guttmann, T., &amp; Mimran, O. (2019). The unique role of relationship marketing in small businesses’ customer experience. Journal of Retailing and Consumer Services, 51, 152–164. doi:10.1016/j.jretconser.2019.06.004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910FB-298A-4AC3-AAD5-BF4DB7A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5238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A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FFAF1"/>
                </a:solidFill>
                <a:latin typeface="Aptos"/>
                <a:ea typeface="Aptos"/>
                <a:cs typeface="Aptos"/>
              </a:rPr>
              <a:t>OECD. (2021). The digital transformation of SMEs. OECD Studies on SMEs and Entrepreneurship. doi:10.1787/bdb9256a-en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266A8-BC3D-4A05-911D-4689478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2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1B28A"/>
                </a:solidFill>
                <a:latin typeface="Aptos"/>
                <a:ea typeface="Aptos"/>
                <a:cs typeface="Aptos"/>
              </a:rPr>
              <a:t>Kevin Marin  ·  UPTC / FESAD  · 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9C5DA-A80D-42A3-A972-FDA29ECB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45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367AB-B922-4A31-A0F3-71C592F3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D7D4C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D7D4C8"/>
                </a:solidFill>
                <a:latin typeface="Aptos"/>
                <a:ea typeface="Aptos"/>
                <a:cs typeface="Aptos"/>
              </a:rPr>
              <a:t>TICs y Ambientes de Aprendizaje  ·  UPTC / FESAD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3D63A-7EDC-40FD-A567-E337AEFA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D7D4C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D7D4C8"/>
                </a:solidFill>
                <a:latin typeface="Aptos"/>
                <a:ea typeface="Aptos"/>
                <a:cs typeface="Aptos"/>
              </a:rPr>
              <a:t>BORRADOR PARA REVISIÓN DE KEVIN MARIN</a:t>
            </a:r>
          </a:p>
        </p:txBody>
      </p:sp>
    </p:spTree>
    <p:extLst>
      <p:ext uri="{BB962C8B-B14F-4D97-AF65-F5344CB8AC3E}">
        <p14:creationId xmlns:p14="http://schemas.microsoft.com/office/powerpoint/2010/main" val="967416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2026-10-04T03:53:12.9940000Z</dcterms:created>
  <dcterms:modified xsi:type="dcterms:W3CDTF">2026-10-04T03:53:12.9940000Z</dcterms:modified>
</coreProperties>
</file>